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6"/>
  </p:notesMasterIdLst>
  <p:sldIdLst>
    <p:sldId id="256" r:id="rId2"/>
    <p:sldId id="257" r:id="rId3"/>
    <p:sldId id="260" r:id="rId4"/>
    <p:sldId id="261" r:id="rId5"/>
  </p:sldIdLst>
  <p:sldSz cx="12192000" cy="6858000"/>
  <p:notesSz cx="6888163" cy="10020300"/>
  <p:embeddedFontLst>
    <p:embeddedFont>
      <p:font typeface="Garamond" panose="02020404030301010803" pitchFamily="18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84871" cy="50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75" rIns="96600" bIns="48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01698" y="0"/>
            <a:ext cx="2984871" cy="50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75" rIns="96600" bIns="482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75" rIns="96600" bIns="48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75" rIns="96600" bIns="482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75" rIns="96600" bIns="482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595838980_5_0:notes"/>
          <p:cNvSpPr txBox="1">
            <a:spLocks noGrp="1"/>
          </p:cNvSpPr>
          <p:nvPr>
            <p:ph type="body" idx="1"/>
          </p:nvPr>
        </p:nvSpPr>
        <p:spPr>
          <a:xfrm>
            <a:off x="688815" y="4759618"/>
            <a:ext cx="5510100" cy="45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975" tIns="49950" rIns="99975" bIns="499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g3b595838980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8251" y="751498"/>
            <a:ext cx="4592400" cy="3757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31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1a37caf2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700" cy="338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3b1a37caf23_0_0:notes"/>
          <p:cNvSpPr txBox="1">
            <a:spLocks noGrp="1"/>
          </p:cNvSpPr>
          <p:nvPr>
            <p:ph type="body" idx="1"/>
          </p:nvPr>
        </p:nvSpPr>
        <p:spPr>
          <a:xfrm>
            <a:off x="688817" y="4822269"/>
            <a:ext cx="5510400" cy="3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75" rIns="96600" bIns="48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g3b1a37caf23_0_0:notes"/>
          <p:cNvSpPr txBox="1">
            <a:spLocks noGrp="1"/>
          </p:cNvSpPr>
          <p:nvPr>
            <p:ph type="sldNum" idx="12"/>
          </p:nvPr>
        </p:nvSpPr>
        <p:spPr>
          <a:xfrm>
            <a:off x="3901698" y="9517547"/>
            <a:ext cx="2985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275" rIns="96600" bIns="482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113c00a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675" y="751522"/>
            <a:ext cx="6122700" cy="3757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3b113c00afb_0_0:notes"/>
          <p:cNvSpPr txBox="1">
            <a:spLocks noGrp="1"/>
          </p:cNvSpPr>
          <p:nvPr>
            <p:ph type="body" idx="1"/>
          </p:nvPr>
        </p:nvSpPr>
        <p:spPr>
          <a:xfrm>
            <a:off x="688815" y="4759643"/>
            <a:ext cx="5510400" cy="45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001D35"/>
                </a:solidFill>
                <a:highlight>
                  <a:srgbClr val="FFFFFF"/>
                </a:highlight>
              </a:rPr>
              <a:t>Tradução de CRM!</a:t>
            </a:r>
            <a:endParaRPr sz="15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1500">
                <a:solidFill>
                  <a:srgbClr val="001D35"/>
                </a:solidFill>
                <a:highlight>
                  <a:srgbClr val="FFFFFF"/>
                </a:highlight>
              </a:rPr>
            </a:br>
            <a:r>
              <a:rPr lang="pt-BR" sz="1500">
                <a:solidFill>
                  <a:srgbClr val="001D35"/>
                </a:solidFill>
                <a:highlight>
                  <a:srgbClr val="FFFFFF"/>
                </a:highlight>
              </a:rPr>
              <a:t>A estrutura de Gestão de Relacionamento com o Cliente é muito mais amplo, hoje vamos apresentar uma pequena parte de processo todo.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4a5b979e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675" y="751522"/>
            <a:ext cx="6122700" cy="3757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b4a5b979e9_0_2:notes"/>
          <p:cNvSpPr txBox="1">
            <a:spLocks noGrp="1"/>
          </p:cNvSpPr>
          <p:nvPr>
            <p:ph type="body" idx="1"/>
          </p:nvPr>
        </p:nvSpPr>
        <p:spPr>
          <a:xfrm>
            <a:off x="688815" y="4759643"/>
            <a:ext cx="5510400" cy="45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001D35"/>
                </a:solidFill>
                <a:highlight>
                  <a:srgbClr val="FFFFFF"/>
                </a:highlight>
              </a:rPr>
              <a:t>Tradução de CRM!</a:t>
            </a:r>
            <a:endParaRPr sz="15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1500">
                <a:solidFill>
                  <a:srgbClr val="001D35"/>
                </a:solidFill>
                <a:highlight>
                  <a:srgbClr val="FFFFFF"/>
                </a:highlight>
              </a:rPr>
            </a:br>
            <a:r>
              <a:rPr lang="pt-BR" sz="1500">
                <a:solidFill>
                  <a:srgbClr val="001D35"/>
                </a:solidFill>
                <a:highlight>
                  <a:srgbClr val="FFFFFF"/>
                </a:highlight>
              </a:rPr>
              <a:t>A estrutura de Gestão de Relacionamento com o Cliente é muito mais amplo, hoje vamos apresentar uma pequena parte de processo todo.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17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A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A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A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A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A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A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A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A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>
            <a:spLocks noGrp="1"/>
          </p:cNvSpPr>
          <p:nvPr>
            <p:ph type="pic" idx="2"/>
          </p:nvPr>
        </p:nvSpPr>
        <p:spPr>
          <a:xfrm>
            <a:off x="-438296" y="692150"/>
            <a:ext cx="2831700" cy="268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5" name="Google Shape;95;p15"/>
          <p:cNvSpPr>
            <a:spLocks noGrp="1"/>
          </p:cNvSpPr>
          <p:nvPr>
            <p:ph type="pic" idx="3"/>
          </p:nvPr>
        </p:nvSpPr>
        <p:spPr>
          <a:xfrm>
            <a:off x="2498621" y="692150"/>
            <a:ext cx="2831700" cy="268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6" name="Google Shape;96;p15"/>
          <p:cNvSpPr>
            <a:spLocks noGrp="1"/>
          </p:cNvSpPr>
          <p:nvPr>
            <p:ph type="pic" idx="4"/>
          </p:nvPr>
        </p:nvSpPr>
        <p:spPr>
          <a:xfrm>
            <a:off x="-438296" y="3480714"/>
            <a:ext cx="2831700" cy="268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7" name="Google Shape;97;p15"/>
          <p:cNvSpPr>
            <a:spLocks noGrp="1"/>
          </p:cNvSpPr>
          <p:nvPr>
            <p:ph type="pic" idx="5"/>
          </p:nvPr>
        </p:nvSpPr>
        <p:spPr>
          <a:xfrm>
            <a:off x="2498621" y="3480714"/>
            <a:ext cx="2831700" cy="268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8" name="Google Shape;9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A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A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A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A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A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A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A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A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6" title="Background - Daex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64650"/>
            <a:ext cx="12191990" cy="6858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/>
        </p:nvSpPr>
        <p:spPr>
          <a:xfrm>
            <a:off x="463425" y="2859075"/>
            <a:ext cx="110445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4000" b="1">
                <a:solidFill>
                  <a:srgbClr val="DAB868"/>
                </a:solidFill>
                <a:latin typeface="Garamond"/>
                <a:ea typeface="Garamond"/>
                <a:cs typeface="Garamond"/>
                <a:sym typeface="Garamond"/>
              </a:rPr>
              <a:t>TÍTULO DA APRESENTAÇÃO</a:t>
            </a:r>
            <a:endParaRPr sz="4000" b="1" i="0" u="none" strike="noStrike" cap="none">
              <a:solidFill>
                <a:srgbClr val="DAB868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463425" y="3599800"/>
            <a:ext cx="11044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2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30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Caso precise de um texto de apoio, coloque aqui embaixo</a:t>
            </a:r>
            <a:endParaRPr sz="3000" b="1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7409575" y="5664375"/>
            <a:ext cx="4416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2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30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Logo do cliente</a:t>
            </a:r>
            <a:endParaRPr sz="3000" b="1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/>
        </p:nvSpPr>
        <p:spPr>
          <a:xfrm>
            <a:off x="2607013" y="505585"/>
            <a:ext cx="7295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3000" b="1">
                <a:solidFill>
                  <a:srgbClr val="DAB868"/>
                </a:solidFill>
                <a:latin typeface="Garamond"/>
                <a:ea typeface="Garamond"/>
                <a:cs typeface="Garamond"/>
                <a:sym typeface="Garamond"/>
              </a:rPr>
              <a:t>TÍTULO EM CAPS LOCK</a:t>
            </a:r>
            <a:endParaRPr sz="3000" b="1" i="0" u="none" strike="noStrike" cap="none">
              <a:solidFill>
                <a:srgbClr val="DAB868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478050" y="1731550"/>
            <a:ext cx="112227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1C4587"/>
                </a:solidFill>
                <a:latin typeface="Garamond"/>
                <a:ea typeface="Garamond"/>
                <a:cs typeface="Garamond"/>
                <a:sym typeface="Garamond"/>
              </a:rPr>
              <a:t>Texto normal, podendo usar as fontes GARAMOND (títulos) ou Montserrat (textos longos para facilitar a leitura)  </a:t>
            </a:r>
            <a:endParaRPr sz="2900" b="0" i="0" u="none" strike="noStrike" cap="none">
              <a:solidFill>
                <a:srgbClr val="1C4587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/>
        </p:nvSpPr>
        <p:spPr>
          <a:xfrm>
            <a:off x="4197738" y="836510"/>
            <a:ext cx="7295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3000" b="1">
                <a:solidFill>
                  <a:srgbClr val="DAB868"/>
                </a:solidFill>
                <a:latin typeface="Garamond"/>
                <a:ea typeface="Garamond"/>
                <a:cs typeface="Garamond"/>
                <a:sym typeface="Garamond"/>
              </a:rPr>
              <a:t>SOBRE IMAGENS</a:t>
            </a:r>
            <a:endParaRPr sz="3000" b="1" i="0" u="none" strike="noStrike" cap="none">
              <a:solidFill>
                <a:srgbClr val="DAB868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4283950" y="1731550"/>
            <a:ext cx="74169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1C4587"/>
                </a:solidFill>
                <a:latin typeface="Garamond"/>
                <a:ea typeface="Garamond"/>
                <a:cs typeface="Garamond"/>
                <a:sym typeface="Garamond"/>
              </a:rPr>
              <a:t>Caso precise colocar alguma imagem de apoio, coloque do lado esquerdo da tela como demonstrado.</a:t>
            </a:r>
            <a:endParaRPr sz="2900" b="0" i="0" u="none" strike="noStrike" cap="none">
              <a:solidFill>
                <a:srgbClr val="1C4587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" y="0"/>
            <a:ext cx="38576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</Words>
  <Application>Microsoft Office PowerPoint</Application>
  <PresentationFormat>Widescreen</PresentationFormat>
  <Paragraphs>12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Garamond</vt:lpstr>
      <vt:lpstr>Calibri</vt:lpstr>
      <vt:lpstr>Roboto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Organiza Daexe</dc:creator>
  <cp:lastModifiedBy>Organiza Daexe</cp:lastModifiedBy>
  <cp:revision>1</cp:revision>
  <dcterms:modified xsi:type="dcterms:W3CDTF">2026-07-27T13:28:45Z</dcterms:modified>
</cp:coreProperties>
</file>